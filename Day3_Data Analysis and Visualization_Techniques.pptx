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9" r:id="rId2"/>
  </p:sldMasterIdLst>
  <p:sldIdLst>
    <p:sldId id="256" r:id="rId3"/>
    <p:sldId id="257" r:id="rId4"/>
    <p:sldId id="263" r:id="rId5"/>
    <p:sldId id="264" r:id="rId6"/>
    <p:sldId id="258" r:id="rId7"/>
    <p:sldId id="265" r:id="rId8"/>
    <p:sldId id="266" r:id="rId9"/>
    <p:sldId id="267" r:id="rId10"/>
    <p:sldId id="268" r:id="rId11"/>
    <p:sldId id="269" r:id="rId12"/>
    <p:sldId id="270" r:id="rId13"/>
    <p:sldId id="275" r:id="rId14"/>
    <p:sldId id="271" r:id="rId15"/>
    <p:sldId id="276" r:id="rId16"/>
    <p:sldId id="272" r:id="rId17"/>
    <p:sldId id="277" r:id="rId18"/>
    <p:sldId id="278" r:id="rId19"/>
    <p:sldId id="335" r:id="rId20"/>
    <p:sldId id="280" r:id="rId21"/>
    <p:sldId id="281" r:id="rId22"/>
    <p:sldId id="334" r:id="rId23"/>
    <p:sldId id="261" r:id="rId24"/>
    <p:sldId id="273" r:id="rId25"/>
    <p:sldId id="274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/>
    <p:restoredTop sz="94626"/>
  </p:normalViewPr>
  <p:slideViewPr>
    <p:cSldViewPr snapToGrid="0" snapToObjects="1">
      <p:cViewPr varScale="1">
        <p:scale>
          <a:sx n="121" d="100"/>
          <a:sy n="121" d="100"/>
        </p:scale>
        <p:origin x="189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627495-64C3-4696-A3C5-B7500B29481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E6F8638-2F70-47C8-A4DE-DC08BC0DA6A0}">
      <dgm:prSet/>
      <dgm:spPr/>
      <dgm:t>
        <a:bodyPr/>
        <a:lstStyle/>
        <a:p>
          <a:r>
            <a:rPr lang="en-US" baseline="0"/>
            <a:t>Data Analysis – An Introduction</a:t>
          </a:r>
          <a:endParaRPr lang="en-US"/>
        </a:p>
      </dgm:t>
    </dgm:pt>
    <dgm:pt modelId="{375D313C-B6F3-48BA-BC90-BA295421AC9C}" type="parTrans" cxnId="{79133D82-4A54-4090-B371-E33C5055207D}">
      <dgm:prSet/>
      <dgm:spPr/>
      <dgm:t>
        <a:bodyPr/>
        <a:lstStyle/>
        <a:p>
          <a:endParaRPr lang="en-US"/>
        </a:p>
      </dgm:t>
    </dgm:pt>
    <dgm:pt modelId="{2192AFDA-C808-4263-9C77-AF1435933EC0}" type="sibTrans" cxnId="{79133D82-4A54-4090-B371-E33C5055207D}">
      <dgm:prSet/>
      <dgm:spPr/>
      <dgm:t>
        <a:bodyPr/>
        <a:lstStyle/>
        <a:p>
          <a:endParaRPr lang="en-US"/>
        </a:p>
      </dgm:t>
    </dgm:pt>
    <dgm:pt modelId="{80F1F041-D433-44D2-958A-79A8EE62C2B6}">
      <dgm:prSet/>
      <dgm:spPr/>
      <dgm:t>
        <a:bodyPr/>
        <a:lstStyle/>
        <a:p>
          <a:r>
            <a:rPr lang="en-US" baseline="0" dirty="0"/>
            <a:t>Mastering data visualization with Python libraries and KNIME.</a:t>
          </a:r>
          <a:endParaRPr lang="en-US" dirty="0"/>
        </a:p>
      </dgm:t>
    </dgm:pt>
    <dgm:pt modelId="{0489920E-F727-40C1-B148-88717EE9CD43}" type="parTrans" cxnId="{6E40C4B1-BB56-4003-9297-23085CA2222B}">
      <dgm:prSet/>
      <dgm:spPr/>
      <dgm:t>
        <a:bodyPr/>
        <a:lstStyle/>
        <a:p>
          <a:endParaRPr lang="en-US"/>
        </a:p>
      </dgm:t>
    </dgm:pt>
    <dgm:pt modelId="{47F60C96-DB10-4994-A397-4CD6500396EE}" type="sibTrans" cxnId="{6E40C4B1-BB56-4003-9297-23085CA2222B}">
      <dgm:prSet/>
      <dgm:spPr/>
      <dgm:t>
        <a:bodyPr/>
        <a:lstStyle/>
        <a:p>
          <a:endParaRPr lang="en-US"/>
        </a:p>
      </dgm:t>
    </dgm:pt>
    <dgm:pt modelId="{59B6CA35-A271-42EB-9D63-F25B048E0AF3}">
      <dgm:prSet/>
      <dgm:spPr/>
      <dgm:t>
        <a:bodyPr/>
        <a:lstStyle/>
        <a:p>
          <a:r>
            <a:rPr lang="en-US" baseline="0"/>
            <a:t>Understanding the importance of visualization in research.</a:t>
          </a:r>
          <a:endParaRPr lang="en-US"/>
        </a:p>
      </dgm:t>
    </dgm:pt>
    <dgm:pt modelId="{F40911FB-BC2E-4F52-980A-EB77F5BAFCB7}" type="parTrans" cxnId="{8F0342BD-C5E6-47D7-8348-90CAABBEF27E}">
      <dgm:prSet/>
      <dgm:spPr/>
      <dgm:t>
        <a:bodyPr/>
        <a:lstStyle/>
        <a:p>
          <a:endParaRPr lang="en-US"/>
        </a:p>
      </dgm:t>
    </dgm:pt>
    <dgm:pt modelId="{D7AA54E0-65DA-4026-89E4-C1ECE7B0A96F}" type="sibTrans" cxnId="{8F0342BD-C5E6-47D7-8348-90CAABBEF27E}">
      <dgm:prSet/>
      <dgm:spPr/>
      <dgm:t>
        <a:bodyPr/>
        <a:lstStyle/>
        <a:p>
          <a:endParaRPr lang="en-US"/>
        </a:p>
      </dgm:t>
    </dgm:pt>
    <dgm:pt modelId="{41625913-893F-4168-B1AA-BCA9C3D1AE8B}">
      <dgm:prSet/>
      <dgm:spPr/>
      <dgm:t>
        <a:bodyPr/>
        <a:lstStyle/>
        <a:p>
          <a:r>
            <a:rPr lang="en-US" baseline="0" dirty="0"/>
            <a:t>Hands-on activities for practical learning.</a:t>
          </a:r>
          <a:endParaRPr lang="en-US" dirty="0"/>
        </a:p>
      </dgm:t>
    </dgm:pt>
    <dgm:pt modelId="{F353420B-3D1D-46C3-8FFC-ED1BA4E4070E}" type="parTrans" cxnId="{E87E2F8C-F57C-449D-B9FD-EA66544C0822}">
      <dgm:prSet/>
      <dgm:spPr/>
      <dgm:t>
        <a:bodyPr/>
        <a:lstStyle/>
        <a:p>
          <a:endParaRPr lang="en-US"/>
        </a:p>
      </dgm:t>
    </dgm:pt>
    <dgm:pt modelId="{63A4605F-B5B1-4A34-889E-7D232C606ACF}" type="sibTrans" cxnId="{E87E2F8C-F57C-449D-B9FD-EA66544C0822}">
      <dgm:prSet/>
      <dgm:spPr/>
      <dgm:t>
        <a:bodyPr/>
        <a:lstStyle/>
        <a:p>
          <a:endParaRPr lang="en-US"/>
        </a:p>
      </dgm:t>
    </dgm:pt>
    <dgm:pt modelId="{0F57E78A-B540-4F28-9A2C-11095502014D}" type="pres">
      <dgm:prSet presAssocID="{5D627495-64C3-4696-A3C5-B7500B294811}" presName="root" presStyleCnt="0">
        <dgm:presLayoutVars>
          <dgm:dir/>
          <dgm:resizeHandles val="exact"/>
        </dgm:presLayoutVars>
      </dgm:prSet>
      <dgm:spPr/>
    </dgm:pt>
    <dgm:pt modelId="{5A0A8AB0-A3CE-42DF-9356-043ED761935B}" type="pres">
      <dgm:prSet presAssocID="{BE6F8638-2F70-47C8-A4DE-DC08BC0DA6A0}" presName="compNode" presStyleCnt="0"/>
      <dgm:spPr/>
    </dgm:pt>
    <dgm:pt modelId="{CACF0061-EE2A-4111-9533-8EB83DDDCF42}" type="pres">
      <dgm:prSet presAssocID="{BE6F8638-2F70-47C8-A4DE-DC08BC0DA6A0}" presName="bgRect" presStyleLbl="bgShp" presStyleIdx="0" presStyleCnt="4"/>
      <dgm:spPr/>
    </dgm:pt>
    <dgm:pt modelId="{77E49501-8C99-435C-BF63-E6A09C95544F}" type="pres">
      <dgm:prSet presAssocID="{BE6F8638-2F70-47C8-A4DE-DC08BC0DA6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660589A-E50E-4BE2-8EDC-627CC8B0CF71}" type="pres">
      <dgm:prSet presAssocID="{BE6F8638-2F70-47C8-A4DE-DC08BC0DA6A0}" presName="spaceRect" presStyleCnt="0"/>
      <dgm:spPr/>
    </dgm:pt>
    <dgm:pt modelId="{73E9FA77-63A5-40BF-B895-3E833CBDE4B9}" type="pres">
      <dgm:prSet presAssocID="{BE6F8638-2F70-47C8-A4DE-DC08BC0DA6A0}" presName="parTx" presStyleLbl="revTx" presStyleIdx="0" presStyleCnt="4">
        <dgm:presLayoutVars>
          <dgm:chMax val="0"/>
          <dgm:chPref val="0"/>
        </dgm:presLayoutVars>
      </dgm:prSet>
      <dgm:spPr/>
    </dgm:pt>
    <dgm:pt modelId="{010FD363-ADBD-4ED8-B39C-D857B96D7C09}" type="pres">
      <dgm:prSet presAssocID="{2192AFDA-C808-4263-9C77-AF1435933EC0}" presName="sibTrans" presStyleCnt="0"/>
      <dgm:spPr/>
    </dgm:pt>
    <dgm:pt modelId="{EA6B9067-1D87-4FE0-96F8-64A240DE7AB4}" type="pres">
      <dgm:prSet presAssocID="{80F1F041-D433-44D2-958A-79A8EE62C2B6}" presName="compNode" presStyleCnt="0"/>
      <dgm:spPr/>
    </dgm:pt>
    <dgm:pt modelId="{C502DD72-C30F-4938-8AA0-773540DE4683}" type="pres">
      <dgm:prSet presAssocID="{80F1F041-D433-44D2-958A-79A8EE62C2B6}" presName="bgRect" presStyleLbl="bgShp" presStyleIdx="1" presStyleCnt="4"/>
      <dgm:spPr/>
    </dgm:pt>
    <dgm:pt modelId="{C7691068-CD01-4E77-ABD5-8951CF1C3078}" type="pres">
      <dgm:prSet presAssocID="{80F1F041-D433-44D2-958A-79A8EE62C2B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2D04EAE-799C-4295-8159-E30CEE1F8B99}" type="pres">
      <dgm:prSet presAssocID="{80F1F041-D433-44D2-958A-79A8EE62C2B6}" presName="spaceRect" presStyleCnt="0"/>
      <dgm:spPr/>
    </dgm:pt>
    <dgm:pt modelId="{E605AA14-383B-4905-9508-71204AB181B7}" type="pres">
      <dgm:prSet presAssocID="{80F1F041-D433-44D2-958A-79A8EE62C2B6}" presName="parTx" presStyleLbl="revTx" presStyleIdx="1" presStyleCnt="4">
        <dgm:presLayoutVars>
          <dgm:chMax val="0"/>
          <dgm:chPref val="0"/>
        </dgm:presLayoutVars>
      </dgm:prSet>
      <dgm:spPr/>
    </dgm:pt>
    <dgm:pt modelId="{AF9FB2F8-7609-4DF6-AC00-B7D5CD53C911}" type="pres">
      <dgm:prSet presAssocID="{47F60C96-DB10-4994-A397-4CD6500396EE}" presName="sibTrans" presStyleCnt="0"/>
      <dgm:spPr/>
    </dgm:pt>
    <dgm:pt modelId="{45BA1AF2-3D64-4B12-AE4D-740A66134BB5}" type="pres">
      <dgm:prSet presAssocID="{59B6CA35-A271-42EB-9D63-F25B048E0AF3}" presName="compNode" presStyleCnt="0"/>
      <dgm:spPr/>
    </dgm:pt>
    <dgm:pt modelId="{273A6D2C-8ECE-4114-ACBA-5D8E7A8E276E}" type="pres">
      <dgm:prSet presAssocID="{59B6CA35-A271-42EB-9D63-F25B048E0AF3}" presName="bgRect" presStyleLbl="bgShp" presStyleIdx="2" presStyleCnt="4"/>
      <dgm:spPr/>
    </dgm:pt>
    <dgm:pt modelId="{815E38AF-1781-4B78-BA7D-EB13B4ED03BA}" type="pres">
      <dgm:prSet presAssocID="{59B6CA35-A271-42EB-9D63-F25B048E0AF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51646402-1C1E-46AA-8AFF-3D8B89232086}" type="pres">
      <dgm:prSet presAssocID="{59B6CA35-A271-42EB-9D63-F25B048E0AF3}" presName="spaceRect" presStyleCnt="0"/>
      <dgm:spPr/>
    </dgm:pt>
    <dgm:pt modelId="{34454752-1CD8-4DAB-AE79-A4CFA6773047}" type="pres">
      <dgm:prSet presAssocID="{59B6CA35-A271-42EB-9D63-F25B048E0AF3}" presName="parTx" presStyleLbl="revTx" presStyleIdx="2" presStyleCnt="4">
        <dgm:presLayoutVars>
          <dgm:chMax val="0"/>
          <dgm:chPref val="0"/>
        </dgm:presLayoutVars>
      </dgm:prSet>
      <dgm:spPr/>
    </dgm:pt>
    <dgm:pt modelId="{99607F07-7A9E-421C-AF5F-C9CD8027C702}" type="pres">
      <dgm:prSet presAssocID="{D7AA54E0-65DA-4026-89E4-C1ECE7B0A96F}" presName="sibTrans" presStyleCnt="0"/>
      <dgm:spPr/>
    </dgm:pt>
    <dgm:pt modelId="{0526E9B9-A519-485A-9209-1072BAFF7B7C}" type="pres">
      <dgm:prSet presAssocID="{41625913-893F-4168-B1AA-BCA9C3D1AE8B}" presName="compNode" presStyleCnt="0"/>
      <dgm:spPr/>
    </dgm:pt>
    <dgm:pt modelId="{ABE7CE24-5A2F-4F37-89C9-5FD29933FBE3}" type="pres">
      <dgm:prSet presAssocID="{41625913-893F-4168-B1AA-BCA9C3D1AE8B}" presName="bgRect" presStyleLbl="bgShp" presStyleIdx="3" presStyleCnt="4"/>
      <dgm:spPr/>
    </dgm:pt>
    <dgm:pt modelId="{6E57C337-37BB-4C04-9F51-D255870A99AE}" type="pres">
      <dgm:prSet presAssocID="{41625913-893F-4168-B1AA-BCA9C3D1AE8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9D4AB43D-C16E-4363-8237-ED7650424598}" type="pres">
      <dgm:prSet presAssocID="{41625913-893F-4168-B1AA-BCA9C3D1AE8B}" presName="spaceRect" presStyleCnt="0"/>
      <dgm:spPr/>
    </dgm:pt>
    <dgm:pt modelId="{7D01AD41-0996-4CD7-8F72-5A598AADA1F3}" type="pres">
      <dgm:prSet presAssocID="{41625913-893F-4168-B1AA-BCA9C3D1AE8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9BBFF06-C9DC-41A0-819D-5404F5733043}" type="presOf" srcId="{59B6CA35-A271-42EB-9D63-F25B048E0AF3}" destId="{34454752-1CD8-4DAB-AE79-A4CFA6773047}" srcOrd="0" destOrd="0" presId="urn:microsoft.com/office/officeart/2018/2/layout/IconVerticalSolidList"/>
    <dgm:cxn modelId="{4AD70F1A-EF35-4915-919F-D28C06CB7F2E}" type="presOf" srcId="{41625913-893F-4168-B1AA-BCA9C3D1AE8B}" destId="{7D01AD41-0996-4CD7-8F72-5A598AADA1F3}" srcOrd="0" destOrd="0" presId="urn:microsoft.com/office/officeart/2018/2/layout/IconVerticalSolidList"/>
    <dgm:cxn modelId="{46E3192D-AB75-4D32-ABFF-47AB7C325F23}" type="presOf" srcId="{80F1F041-D433-44D2-958A-79A8EE62C2B6}" destId="{E605AA14-383B-4905-9508-71204AB181B7}" srcOrd="0" destOrd="0" presId="urn:microsoft.com/office/officeart/2018/2/layout/IconVerticalSolidList"/>
    <dgm:cxn modelId="{8E0DEF67-6C3C-4599-AC8D-DAE38A5B1B13}" type="presOf" srcId="{BE6F8638-2F70-47C8-A4DE-DC08BC0DA6A0}" destId="{73E9FA77-63A5-40BF-B895-3E833CBDE4B9}" srcOrd="0" destOrd="0" presId="urn:microsoft.com/office/officeart/2018/2/layout/IconVerticalSolidList"/>
    <dgm:cxn modelId="{79133D82-4A54-4090-B371-E33C5055207D}" srcId="{5D627495-64C3-4696-A3C5-B7500B294811}" destId="{BE6F8638-2F70-47C8-A4DE-DC08BC0DA6A0}" srcOrd="0" destOrd="0" parTransId="{375D313C-B6F3-48BA-BC90-BA295421AC9C}" sibTransId="{2192AFDA-C808-4263-9C77-AF1435933EC0}"/>
    <dgm:cxn modelId="{E87E2F8C-F57C-449D-B9FD-EA66544C0822}" srcId="{5D627495-64C3-4696-A3C5-B7500B294811}" destId="{41625913-893F-4168-B1AA-BCA9C3D1AE8B}" srcOrd="3" destOrd="0" parTransId="{F353420B-3D1D-46C3-8FFC-ED1BA4E4070E}" sibTransId="{63A4605F-B5B1-4A34-889E-7D232C606ACF}"/>
    <dgm:cxn modelId="{B85937A8-D974-44F6-B414-8532CF124A40}" type="presOf" srcId="{5D627495-64C3-4696-A3C5-B7500B294811}" destId="{0F57E78A-B540-4F28-9A2C-11095502014D}" srcOrd="0" destOrd="0" presId="urn:microsoft.com/office/officeart/2018/2/layout/IconVerticalSolidList"/>
    <dgm:cxn modelId="{6E40C4B1-BB56-4003-9297-23085CA2222B}" srcId="{5D627495-64C3-4696-A3C5-B7500B294811}" destId="{80F1F041-D433-44D2-958A-79A8EE62C2B6}" srcOrd="1" destOrd="0" parTransId="{0489920E-F727-40C1-B148-88717EE9CD43}" sibTransId="{47F60C96-DB10-4994-A397-4CD6500396EE}"/>
    <dgm:cxn modelId="{8F0342BD-C5E6-47D7-8348-90CAABBEF27E}" srcId="{5D627495-64C3-4696-A3C5-B7500B294811}" destId="{59B6CA35-A271-42EB-9D63-F25B048E0AF3}" srcOrd="2" destOrd="0" parTransId="{F40911FB-BC2E-4F52-980A-EB77F5BAFCB7}" sibTransId="{D7AA54E0-65DA-4026-89E4-C1ECE7B0A96F}"/>
    <dgm:cxn modelId="{F191003D-F201-420C-8FCB-8ABEAA19F52A}" type="presParOf" srcId="{0F57E78A-B540-4F28-9A2C-11095502014D}" destId="{5A0A8AB0-A3CE-42DF-9356-043ED761935B}" srcOrd="0" destOrd="0" presId="urn:microsoft.com/office/officeart/2018/2/layout/IconVerticalSolidList"/>
    <dgm:cxn modelId="{E5EF62B3-431E-4B3D-ACB8-73A432694172}" type="presParOf" srcId="{5A0A8AB0-A3CE-42DF-9356-043ED761935B}" destId="{CACF0061-EE2A-4111-9533-8EB83DDDCF42}" srcOrd="0" destOrd="0" presId="urn:microsoft.com/office/officeart/2018/2/layout/IconVerticalSolidList"/>
    <dgm:cxn modelId="{C1473AF9-C1B4-4873-96DD-A4801B0901A4}" type="presParOf" srcId="{5A0A8AB0-A3CE-42DF-9356-043ED761935B}" destId="{77E49501-8C99-435C-BF63-E6A09C95544F}" srcOrd="1" destOrd="0" presId="urn:microsoft.com/office/officeart/2018/2/layout/IconVerticalSolidList"/>
    <dgm:cxn modelId="{1C1AC6C2-8E67-44B2-A1FD-2516BEDE01A4}" type="presParOf" srcId="{5A0A8AB0-A3CE-42DF-9356-043ED761935B}" destId="{5660589A-E50E-4BE2-8EDC-627CC8B0CF71}" srcOrd="2" destOrd="0" presId="urn:microsoft.com/office/officeart/2018/2/layout/IconVerticalSolidList"/>
    <dgm:cxn modelId="{75356406-3343-4C83-B51F-8EA5DA025354}" type="presParOf" srcId="{5A0A8AB0-A3CE-42DF-9356-043ED761935B}" destId="{73E9FA77-63A5-40BF-B895-3E833CBDE4B9}" srcOrd="3" destOrd="0" presId="urn:microsoft.com/office/officeart/2018/2/layout/IconVerticalSolidList"/>
    <dgm:cxn modelId="{A2A284E3-2895-481F-A310-E7EDBB2DE6C6}" type="presParOf" srcId="{0F57E78A-B540-4F28-9A2C-11095502014D}" destId="{010FD363-ADBD-4ED8-B39C-D857B96D7C09}" srcOrd="1" destOrd="0" presId="urn:microsoft.com/office/officeart/2018/2/layout/IconVerticalSolidList"/>
    <dgm:cxn modelId="{385318B7-8A2A-49E5-AA76-2B0A5BAD168B}" type="presParOf" srcId="{0F57E78A-B540-4F28-9A2C-11095502014D}" destId="{EA6B9067-1D87-4FE0-96F8-64A240DE7AB4}" srcOrd="2" destOrd="0" presId="urn:microsoft.com/office/officeart/2018/2/layout/IconVerticalSolidList"/>
    <dgm:cxn modelId="{766B0000-1760-4B36-ADC6-E029627BCAB1}" type="presParOf" srcId="{EA6B9067-1D87-4FE0-96F8-64A240DE7AB4}" destId="{C502DD72-C30F-4938-8AA0-773540DE4683}" srcOrd="0" destOrd="0" presId="urn:microsoft.com/office/officeart/2018/2/layout/IconVerticalSolidList"/>
    <dgm:cxn modelId="{04BCE6CD-A75E-49D8-A727-8D325044D5BD}" type="presParOf" srcId="{EA6B9067-1D87-4FE0-96F8-64A240DE7AB4}" destId="{C7691068-CD01-4E77-ABD5-8951CF1C3078}" srcOrd="1" destOrd="0" presId="urn:microsoft.com/office/officeart/2018/2/layout/IconVerticalSolidList"/>
    <dgm:cxn modelId="{6F063867-FD6C-43CC-AE36-638E1610998C}" type="presParOf" srcId="{EA6B9067-1D87-4FE0-96F8-64A240DE7AB4}" destId="{52D04EAE-799C-4295-8159-E30CEE1F8B99}" srcOrd="2" destOrd="0" presId="urn:microsoft.com/office/officeart/2018/2/layout/IconVerticalSolidList"/>
    <dgm:cxn modelId="{B9C91FC5-D0D6-42C6-B91B-684A5AE8E611}" type="presParOf" srcId="{EA6B9067-1D87-4FE0-96F8-64A240DE7AB4}" destId="{E605AA14-383B-4905-9508-71204AB181B7}" srcOrd="3" destOrd="0" presId="urn:microsoft.com/office/officeart/2018/2/layout/IconVerticalSolidList"/>
    <dgm:cxn modelId="{09168A04-C00F-4A77-B328-95C104FF83B7}" type="presParOf" srcId="{0F57E78A-B540-4F28-9A2C-11095502014D}" destId="{AF9FB2F8-7609-4DF6-AC00-B7D5CD53C911}" srcOrd="3" destOrd="0" presId="urn:microsoft.com/office/officeart/2018/2/layout/IconVerticalSolidList"/>
    <dgm:cxn modelId="{FDBBC240-C001-42ED-BCE6-02CEA6B3F748}" type="presParOf" srcId="{0F57E78A-B540-4F28-9A2C-11095502014D}" destId="{45BA1AF2-3D64-4B12-AE4D-740A66134BB5}" srcOrd="4" destOrd="0" presId="urn:microsoft.com/office/officeart/2018/2/layout/IconVerticalSolidList"/>
    <dgm:cxn modelId="{9F89D2E9-4240-4603-9F56-8F88E7AF612F}" type="presParOf" srcId="{45BA1AF2-3D64-4B12-AE4D-740A66134BB5}" destId="{273A6D2C-8ECE-4114-ACBA-5D8E7A8E276E}" srcOrd="0" destOrd="0" presId="urn:microsoft.com/office/officeart/2018/2/layout/IconVerticalSolidList"/>
    <dgm:cxn modelId="{46086533-7824-4CB1-A121-42A9AEC777DB}" type="presParOf" srcId="{45BA1AF2-3D64-4B12-AE4D-740A66134BB5}" destId="{815E38AF-1781-4B78-BA7D-EB13B4ED03BA}" srcOrd="1" destOrd="0" presId="urn:microsoft.com/office/officeart/2018/2/layout/IconVerticalSolidList"/>
    <dgm:cxn modelId="{5364BAAC-FEAA-4489-99E6-648B55BD29F0}" type="presParOf" srcId="{45BA1AF2-3D64-4B12-AE4D-740A66134BB5}" destId="{51646402-1C1E-46AA-8AFF-3D8B89232086}" srcOrd="2" destOrd="0" presId="urn:microsoft.com/office/officeart/2018/2/layout/IconVerticalSolidList"/>
    <dgm:cxn modelId="{40644A45-4194-48D4-BC97-4BA0406238F9}" type="presParOf" srcId="{45BA1AF2-3D64-4B12-AE4D-740A66134BB5}" destId="{34454752-1CD8-4DAB-AE79-A4CFA6773047}" srcOrd="3" destOrd="0" presId="urn:microsoft.com/office/officeart/2018/2/layout/IconVerticalSolidList"/>
    <dgm:cxn modelId="{8880A267-2106-417A-837B-3AA0A4B2D0A6}" type="presParOf" srcId="{0F57E78A-B540-4F28-9A2C-11095502014D}" destId="{99607F07-7A9E-421C-AF5F-C9CD8027C702}" srcOrd="5" destOrd="0" presId="urn:microsoft.com/office/officeart/2018/2/layout/IconVerticalSolidList"/>
    <dgm:cxn modelId="{09023A2F-2772-4853-8E5C-B687ACDE93DF}" type="presParOf" srcId="{0F57E78A-B540-4F28-9A2C-11095502014D}" destId="{0526E9B9-A519-485A-9209-1072BAFF7B7C}" srcOrd="6" destOrd="0" presId="urn:microsoft.com/office/officeart/2018/2/layout/IconVerticalSolidList"/>
    <dgm:cxn modelId="{1B591C8B-0F73-4E46-8F65-766C50F2B423}" type="presParOf" srcId="{0526E9B9-A519-485A-9209-1072BAFF7B7C}" destId="{ABE7CE24-5A2F-4F37-89C9-5FD29933FBE3}" srcOrd="0" destOrd="0" presId="urn:microsoft.com/office/officeart/2018/2/layout/IconVerticalSolidList"/>
    <dgm:cxn modelId="{35748EB3-46C6-4F71-ADFC-5355F6E7BD0D}" type="presParOf" srcId="{0526E9B9-A519-485A-9209-1072BAFF7B7C}" destId="{6E57C337-37BB-4C04-9F51-D255870A99AE}" srcOrd="1" destOrd="0" presId="urn:microsoft.com/office/officeart/2018/2/layout/IconVerticalSolidList"/>
    <dgm:cxn modelId="{0DB7C4B5-0EDD-454D-8BEC-629FCD564283}" type="presParOf" srcId="{0526E9B9-A519-485A-9209-1072BAFF7B7C}" destId="{9D4AB43D-C16E-4363-8237-ED7650424598}" srcOrd="2" destOrd="0" presId="urn:microsoft.com/office/officeart/2018/2/layout/IconVerticalSolidList"/>
    <dgm:cxn modelId="{56F92F07-F87E-44AF-BAD9-CCBFFAAC100A}" type="presParOf" srcId="{0526E9B9-A519-485A-9209-1072BAFF7B7C}" destId="{7D01AD41-0996-4CD7-8F72-5A598AADA1F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CF0061-EE2A-4111-9533-8EB83DDDCF42}">
      <dsp:nvSpPr>
        <dsp:cNvPr id="0" name=""/>
        <dsp:cNvSpPr/>
      </dsp:nvSpPr>
      <dsp:spPr>
        <a:xfrm>
          <a:off x="0" y="1912"/>
          <a:ext cx="5012532" cy="9690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E49501-8C99-435C-BF63-E6A09C95544F}">
      <dsp:nvSpPr>
        <dsp:cNvPr id="0" name=""/>
        <dsp:cNvSpPr/>
      </dsp:nvSpPr>
      <dsp:spPr>
        <a:xfrm>
          <a:off x="293144" y="219953"/>
          <a:ext cx="532990" cy="5329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E9FA77-63A5-40BF-B895-3E833CBDE4B9}">
      <dsp:nvSpPr>
        <dsp:cNvPr id="0" name=""/>
        <dsp:cNvSpPr/>
      </dsp:nvSpPr>
      <dsp:spPr>
        <a:xfrm>
          <a:off x="1119280" y="1912"/>
          <a:ext cx="3893251" cy="969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60" tIns="102560" rIns="102560" bIns="10256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/>
            <a:t>Data Analysis – An Introduction</a:t>
          </a:r>
          <a:endParaRPr lang="en-US" sz="2200" kern="1200"/>
        </a:p>
      </dsp:txBody>
      <dsp:txXfrm>
        <a:off x="1119280" y="1912"/>
        <a:ext cx="3893251" cy="969073"/>
      </dsp:txXfrm>
    </dsp:sp>
    <dsp:sp modelId="{C502DD72-C30F-4938-8AA0-773540DE4683}">
      <dsp:nvSpPr>
        <dsp:cNvPr id="0" name=""/>
        <dsp:cNvSpPr/>
      </dsp:nvSpPr>
      <dsp:spPr>
        <a:xfrm>
          <a:off x="0" y="1213254"/>
          <a:ext cx="5012532" cy="9690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691068-CD01-4E77-ABD5-8951CF1C3078}">
      <dsp:nvSpPr>
        <dsp:cNvPr id="0" name=""/>
        <dsp:cNvSpPr/>
      </dsp:nvSpPr>
      <dsp:spPr>
        <a:xfrm>
          <a:off x="293144" y="1431296"/>
          <a:ext cx="532990" cy="5329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05AA14-383B-4905-9508-71204AB181B7}">
      <dsp:nvSpPr>
        <dsp:cNvPr id="0" name=""/>
        <dsp:cNvSpPr/>
      </dsp:nvSpPr>
      <dsp:spPr>
        <a:xfrm>
          <a:off x="1119280" y="1213254"/>
          <a:ext cx="3893251" cy="969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60" tIns="102560" rIns="102560" bIns="10256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 dirty="0"/>
            <a:t>Mastering data visualization with Python libraries and KNIME.</a:t>
          </a:r>
          <a:endParaRPr lang="en-US" sz="2200" kern="1200" dirty="0"/>
        </a:p>
      </dsp:txBody>
      <dsp:txXfrm>
        <a:off x="1119280" y="1213254"/>
        <a:ext cx="3893251" cy="969073"/>
      </dsp:txXfrm>
    </dsp:sp>
    <dsp:sp modelId="{273A6D2C-8ECE-4114-ACBA-5D8E7A8E276E}">
      <dsp:nvSpPr>
        <dsp:cNvPr id="0" name=""/>
        <dsp:cNvSpPr/>
      </dsp:nvSpPr>
      <dsp:spPr>
        <a:xfrm>
          <a:off x="0" y="2424596"/>
          <a:ext cx="5012532" cy="9690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5E38AF-1781-4B78-BA7D-EB13B4ED03BA}">
      <dsp:nvSpPr>
        <dsp:cNvPr id="0" name=""/>
        <dsp:cNvSpPr/>
      </dsp:nvSpPr>
      <dsp:spPr>
        <a:xfrm>
          <a:off x="293144" y="2642638"/>
          <a:ext cx="532990" cy="5329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454752-1CD8-4DAB-AE79-A4CFA6773047}">
      <dsp:nvSpPr>
        <dsp:cNvPr id="0" name=""/>
        <dsp:cNvSpPr/>
      </dsp:nvSpPr>
      <dsp:spPr>
        <a:xfrm>
          <a:off x="1119280" y="2424596"/>
          <a:ext cx="3893251" cy="969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60" tIns="102560" rIns="102560" bIns="10256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/>
            <a:t>Understanding the importance of visualization in research.</a:t>
          </a:r>
          <a:endParaRPr lang="en-US" sz="2200" kern="1200"/>
        </a:p>
      </dsp:txBody>
      <dsp:txXfrm>
        <a:off x="1119280" y="2424596"/>
        <a:ext cx="3893251" cy="969073"/>
      </dsp:txXfrm>
    </dsp:sp>
    <dsp:sp modelId="{ABE7CE24-5A2F-4F37-89C9-5FD29933FBE3}">
      <dsp:nvSpPr>
        <dsp:cNvPr id="0" name=""/>
        <dsp:cNvSpPr/>
      </dsp:nvSpPr>
      <dsp:spPr>
        <a:xfrm>
          <a:off x="0" y="3635939"/>
          <a:ext cx="5012532" cy="9690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57C337-37BB-4C04-9F51-D255870A99AE}">
      <dsp:nvSpPr>
        <dsp:cNvPr id="0" name=""/>
        <dsp:cNvSpPr/>
      </dsp:nvSpPr>
      <dsp:spPr>
        <a:xfrm>
          <a:off x="293144" y="3853980"/>
          <a:ext cx="532990" cy="5329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01AD41-0996-4CD7-8F72-5A598AADA1F3}">
      <dsp:nvSpPr>
        <dsp:cNvPr id="0" name=""/>
        <dsp:cNvSpPr/>
      </dsp:nvSpPr>
      <dsp:spPr>
        <a:xfrm>
          <a:off x="1119280" y="3635939"/>
          <a:ext cx="3893251" cy="969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60" tIns="102560" rIns="102560" bIns="10256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 dirty="0"/>
            <a:t>Hands-on activities for practical learning.</a:t>
          </a:r>
          <a:endParaRPr lang="en-US" sz="2200" kern="1200" dirty="0"/>
        </a:p>
      </dsp:txBody>
      <dsp:txXfrm>
        <a:off x="1119280" y="3635939"/>
        <a:ext cx="3893251" cy="9690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23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63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0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238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980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896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98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4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88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0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0096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81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2955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36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18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02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870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6642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503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270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984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977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0334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459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0913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287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403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387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21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62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numpy.org/doc/stable/user/absolute_beginners.html" TargetMode="Externa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40FCD49-2060-48B9-8212-8A5F1DF47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DA70F40A-D18F-4F05-A106-6D2CB24DC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E1CAF57C-EE95-1659-F07C-DE4B78F1F8E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10999" b="-1"/>
          <a:stretch/>
        </p:blipFill>
        <p:spPr>
          <a:xfrm>
            <a:off x="20" y="346373"/>
            <a:ext cx="9143980" cy="68579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A45DCD-B5FB-4A86-88D2-91088C7FF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3163" y="1127861"/>
            <a:ext cx="6517482" cy="2509213"/>
          </a:xfrm>
        </p:spPr>
        <p:txBody>
          <a:bodyPr>
            <a:normAutofit/>
          </a:bodyPr>
          <a:lstStyle/>
          <a:p>
            <a:r>
              <a:rPr lang="en-IN" cap="none" dirty="0"/>
              <a:t>Day 3: Data Analysis and Visualization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3163" y="3637075"/>
            <a:ext cx="6517482" cy="1371599"/>
          </a:xfrm>
        </p:spPr>
        <p:txBody>
          <a:bodyPr>
            <a:normAutofit/>
          </a:bodyPr>
          <a:lstStyle/>
          <a:p>
            <a:r>
              <a:rPr lang="en-IN" cap="none">
                <a:solidFill>
                  <a:schemeClr val="tx1">
                    <a:lumMod val="65000"/>
                    <a:lumOff val="35000"/>
                  </a:schemeClr>
                </a:solidFill>
              </a:rPr>
              <a:t>Enhancing Research Impact: Tools and Techniques for Effective Publishing</a:t>
            </a:r>
            <a:endParaRPr lang="en-IN" cap="non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A47958-AB2C-6302-F3A9-35C6AE2C7E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" y="5072495"/>
            <a:ext cx="1714500" cy="1536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26EDA6-6C36-5CB5-42C8-1068A16795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498" y="5222946"/>
            <a:ext cx="3175000" cy="1917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4951" y="0"/>
            <a:ext cx="609904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951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805" y="1314450"/>
            <a:ext cx="2133002" cy="3680244"/>
          </a:xfrm>
        </p:spPr>
        <p:txBody>
          <a:bodyPr>
            <a:normAutofit/>
          </a:bodyPr>
          <a:lstStyle/>
          <a:p>
            <a:pPr algn="l"/>
            <a:r>
              <a:rPr lang="en-IN" sz="3200"/>
              <a:t>Session Overview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3044951" cy="1514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032794" y="5962903"/>
            <a:ext cx="1943100" cy="89292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70370B-05BB-5E0E-FDE4-1FF380B9F2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1193292"/>
              </p:ext>
            </p:extLst>
          </p:nvPr>
        </p:nvGraphicFramePr>
        <p:xfrm>
          <a:off x="3445668" y="889000"/>
          <a:ext cx="5012532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cap="none" dirty="0"/>
              <a:t>Data Analysis vs Data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cap="none" dirty="0"/>
              <a:t>Understanding the differences and relationship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0DFAF042-0A4D-ABF9-5F85-C542C8CE73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99" b="-2"/>
          <a:stretch/>
        </p:blipFill>
        <p:spPr>
          <a:xfrm>
            <a:off x="20" y="2754"/>
            <a:ext cx="914398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3E246C7-AE23-4B78-B596-A021E638F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54"/>
            <a:ext cx="9144000" cy="6858000"/>
          </a:xfrm>
          <a:prstGeom prst="rect">
            <a:avLst/>
          </a:prstGeom>
          <a:gradFill>
            <a:gsLst>
              <a:gs pos="10000">
                <a:schemeClr val="bg1">
                  <a:alpha val="75000"/>
                </a:schemeClr>
              </a:gs>
              <a:gs pos="85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88652C-EA91-4836-8F81-08E05C74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18517"/>
            <a:ext cx="7773338" cy="1596177"/>
          </a:xfrm>
        </p:spPr>
        <p:txBody>
          <a:bodyPr>
            <a:normAutofit/>
          </a:bodyPr>
          <a:lstStyle/>
          <a:p>
            <a:r>
              <a:rPr lang="en-IN" cap="none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0" y="2367092"/>
            <a:ext cx="7772870" cy="3424107"/>
          </a:xfrm>
        </p:spPr>
        <p:txBody>
          <a:bodyPr>
            <a:normAutofit/>
          </a:bodyPr>
          <a:lstStyle/>
          <a:p>
            <a:r>
              <a:rPr lang="en-IN" sz="2800" cap="none" dirty="0"/>
              <a:t>Data analytics is a broader discipline that includes data analysis as a subset.</a:t>
            </a:r>
          </a:p>
          <a:p>
            <a:r>
              <a:rPr lang="en-IN" sz="2800" cap="none" dirty="0"/>
              <a:t>Data analysis focuses on summarizing and understanding historical data.</a:t>
            </a:r>
          </a:p>
          <a:p>
            <a:r>
              <a:rPr lang="en-IN" sz="2800" cap="none" dirty="0"/>
              <a:t>Data analytics involves descriptive, diagnostic, predictive, and prescriptive techniques.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4F95DE6-BC61-4DB8-97B8-E32959EA0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D9C176-456B-4F71-AB87-9D14B8B3D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66" t="75007" r="30510"/>
          <a:stretch/>
        </p:blipFill>
        <p:spPr>
          <a:xfrm>
            <a:off x="0" y="138157"/>
            <a:ext cx="1284047" cy="1045389"/>
          </a:xfrm>
          <a:custGeom>
            <a:avLst/>
            <a:gdLst>
              <a:gd name="connsiteX0" fmla="*/ 2051608 w 4103216"/>
              <a:gd name="connsiteY0" fmla="*/ 0 h 1714050"/>
              <a:gd name="connsiteX1" fmla="*/ 4103216 w 4103216"/>
              <a:gd name="connsiteY1" fmla="*/ 1266738 h 1714050"/>
              <a:gd name="connsiteX2" fmla="*/ 4010980 w 4103216"/>
              <a:gd name="connsiteY2" fmla="*/ 1643427 h 1714050"/>
              <a:gd name="connsiteX3" fmla="*/ 3969116 w 4103216"/>
              <a:gd name="connsiteY3" fmla="*/ 1714050 h 1714050"/>
              <a:gd name="connsiteX4" fmla="*/ 134100 w 4103216"/>
              <a:gd name="connsiteY4" fmla="*/ 1714050 h 1714050"/>
              <a:gd name="connsiteX5" fmla="*/ 92237 w 4103216"/>
              <a:gd name="connsiteY5" fmla="*/ 1643427 h 1714050"/>
              <a:gd name="connsiteX6" fmla="*/ 0 w 4103216"/>
              <a:gd name="connsiteY6" fmla="*/ 1266738 h 1714050"/>
              <a:gd name="connsiteX7" fmla="*/ 2051608 w 4103216"/>
              <a:gd name="connsiteY7" fmla="*/ 0 h 171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03216" h="1714050">
                <a:moveTo>
                  <a:pt x="2051608" y="0"/>
                </a:moveTo>
                <a:cubicBezTo>
                  <a:pt x="3184680" y="0"/>
                  <a:pt x="4103216" y="567138"/>
                  <a:pt x="4103216" y="1266738"/>
                </a:cubicBezTo>
                <a:cubicBezTo>
                  <a:pt x="4103216" y="1397913"/>
                  <a:pt x="4070924" y="1524431"/>
                  <a:pt x="4010980" y="1643427"/>
                </a:cubicBezTo>
                <a:lnTo>
                  <a:pt x="3969116" y="1714050"/>
                </a:lnTo>
                <a:lnTo>
                  <a:pt x="134100" y="1714050"/>
                </a:lnTo>
                <a:lnTo>
                  <a:pt x="92237" y="1643427"/>
                </a:lnTo>
                <a:cubicBezTo>
                  <a:pt x="32293" y="1524431"/>
                  <a:pt x="0" y="1397913"/>
                  <a:pt x="0" y="1266738"/>
                </a:cubicBezTo>
                <a:cubicBezTo>
                  <a:pt x="0" y="567138"/>
                  <a:pt x="918536" y="0"/>
                  <a:pt x="2051608" y="0"/>
                </a:cubicBez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8442" y="295773"/>
            <a:ext cx="5894673" cy="1596177"/>
          </a:xfrm>
        </p:spPr>
        <p:txBody>
          <a:bodyPr>
            <a:normAutofit/>
          </a:bodyPr>
          <a:lstStyle/>
          <a:p>
            <a:r>
              <a:rPr lang="en-IN" cap="none" dirty="0"/>
              <a:t>Definitions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FF97C55-868F-4FDD-BD3C-D2F191796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83" t="89413" r="18746"/>
          <a:stretch/>
        </p:blipFill>
        <p:spPr>
          <a:xfrm>
            <a:off x="6303423" y="0"/>
            <a:ext cx="1942267" cy="59154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9722FB9-EA01-42A6-96B2-185F5CC12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23" t="43915" r="1" b="10213"/>
          <a:stretch/>
        </p:blipFill>
        <p:spPr>
          <a:xfrm>
            <a:off x="7853299" y="183232"/>
            <a:ext cx="1290701" cy="168352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636" y="1663906"/>
            <a:ext cx="8159115" cy="4318150"/>
          </a:xfrm>
        </p:spPr>
        <p:txBody>
          <a:bodyPr>
            <a:noAutofit/>
          </a:bodyPr>
          <a:lstStyle/>
          <a:p>
            <a:pPr algn="just"/>
            <a:r>
              <a:rPr lang="en-IN" sz="2800" b="1" dirty="0"/>
              <a:t>Data Analysis </a:t>
            </a:r>
          </a:p>
          <a:p>
            <a:pPr marL="0" indent="0" algn="just">
              <a:buNone/>
            </a:pPr>
            <a:r>
              <a:rPr lang="en-IN" sz="2800" dirty="0"/>
              <a:t>	</a:t>
            </a:r>
            <a:r>
              <a:rPr lang="en-IN" sz="2800" cap="none" dirty="0"/>
              <a:t>A process of summarizing, organizing, and exploring 	historical data to identify patterns and trends.</a:t>
            </a:r>
          </a:p>
          <a:p>
            <a:pPr algn="just"/>
            <a:r>
              <a:rPr lang="en-IN" sz="2800" b="1" dirty="0"/>
              <a:t>Data Analytics</a:t>
            </a:r>
          </a:p>
          <a:p>
            <a:pPr marL="0" indent="0" algn="just">
              <a:buNone/>
            </a:pPr>
            <a:r>
              <a:rPr lang="en-IN" sz="2800" dirty="0"/>
              <a:t>	</a:t>
            </a:r>
            <a:r>
              <a:rPr lang="en-IN" sz="2800" cap="none" dirty="0"/>
              <a:t>A</a:t>
            </a:r>
            <a:r>
              <a:rPr lang="en-IN" sz="2800" b="1" cap="none" dirty="0"/>
              <a:t> </a:t>
            </a:r>
            <a:r>
              <a:rPr lang="en-IN" sz="2800" cap="none" dirty="0"/>
              <a:t>broader field that encompasses advanced 	techniques like predictive </a:t>
            </a:r>
            <a:r>
              <a:rPr lang="en-IN" sz="2800" cap="none" dirty="0" err="1"/>
              <a:t>modeling</a:t>
            </a:r>
            <a:r>
              <a:rPr lang="en-IN" sz="2800" cap="none" dirty="0"/>
              <a:t>, optimization, and real-time analysis.</a:t>
            </a:r>
            <a:endParaRPr lang="en-IN" sz="28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2B4E49C-E7B4-4F6A-8B93-646A0E241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27" t="72411" b="10341"/>
          <a:stretch/>
        </p:blipFill>
        <p:spPr>
          <a:xfrm>
            <a:off x="8620892" y="2664767"/>
            <a:ext cx="476968" cy="764233"/>
          </a:xfrm>
          <a:custGeom>
            <a:avLst/>
            <a:gdLst>
              <a:gd name="connsiteX0" fmla="*/ 0 w 984308"/>
              <a:gd name="connsiteY0" fmla="*/ 0 h 1182847"/>
              <a:gd name="connsiteX1" fmla="*/ 984308 w 984308"/>
              <a:gd name="connsiteY1" fmla="*/ 0 h 1182847"/>
              <a:gd name="connsiteX2" fmla="*/ 984308 w 984308"/>
              <a:gd name="connsiteY2" fmla="*/ 1161661 h 1182847"/>
              <a:gd name="connsiteX3" fmla="*/ 966627 w 984308"/>
              <a:gd name="connsiteY3" fmla="*/ 1165915 h 1182847"/>
              <a:gd name="connsiteX4" fmla="*/ 787132 w 984308"/>
              <a:gd name="connsiteY4" fmla="*/ 1182847 h 1182847"/>
              <a:gd name="connsiteX5" fmla="*/ 48601 w 984308"/>
              <a:gd name="connsiteY5" fmla="*/ 815395 h 1182847"/>
              <a:gd name="connsiteX6" fmla="*/ 0 w 984308"/>
              <a:gd name="connsiteY6" fmla="*/ 731606 h 1182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4308" h="1182847">
                <a:moveTo>
                  <a:pt x="0" y="0"/>
                </a:moveTo>
                <a:lnTo>
                  <a:pt x="984308" y="0"/>
                </a:lnTo>
                <a:lnTo>
                  <a:pt x="984308" y="1161661"/>
                </a:lnTo>
                <a:lnTo>
                  <a:pt x="966627" y="1165915"/>
                </a:lnTo>
                <a:cubicBezTo>
                  <a:pt x="908648" y="1177017"/>
                  <a:pt x="848618" y="1182847"/>
                  <a:pt x="787132" y="1182847"/>
                </a:cubicBezTo>
                <a:cubicBezTo>
                  <a:pt x="479703" y="1182847"/>
                  <a:pt x="208655" y="1037089"/>
                  <a:pt x="48601" y="815395"/>
                </a:cubicBezTo>
                <a:lnTo>
                  <a:pt x="0" y="731606"/>
                </a:lnTo>
                <a:close/>
              </a:path>
            </a:pathLst>
          </a:cu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6528FBF-1727-4546-8131-BA22ED8B54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73" t="81531" r="19879"/>
          <a:stretch/>
        </p:blipFill>
        <p:spPr>
          <a:xfrm>
            <a:off x="6665719" y="5982056"/>
            <a:ext cx="894605" cy="875944"/>
          </a:xfrm>
          <a:custGeom>
            <a:avLst/>
            <a:gdLst>
              <a:gd name="connsiteX0" fmla="*/ 2051608 w 4103216"/>
              <a:gd name="connsiteY0" fmla="*/ 0 h 1714050"/>
              <a:gd name="connsiteX1" fmla="*/ 4103216 w 4103216"/>
              <a:gd name="connsiteY1" fmla="*/ 1266738 h 1714050"/>
              <a:gd name="connsiteX2" fmla="*/ 4010980 w 4103216"/>
              <a:gd name="connsiteY2" fmla="*/ 1643427 h 1714050"/>
              <a:gd name="connsiteX3" fmla="*/ 3969116 w 4103216"/>
              <a:gd name="connsiteY3" fmla="*/ 1714050 h 1714050"/>
              <a:gd name="connsiteX4" fmla="*/ 134100 w 4103216"/>
              <a:gd name="connsiteY4" fmla="*/ 1714050 h 1714050"/>
              <a:gd name="connsiteX5" fmla="*/ 92237 w 4103216"/>
              <a:gd name="connsiteY5" fmla="*/ 1643427 h 1714050"/>
              <a:gd name="connsiteX6" fmla="*/ 0 w 4103216"/>
              <a:gd name="connsiteY6" fmla="*/ 1266738 h 1714050"/>
              <a:gd name="connsiteX7" fmla="*/ 2051608 w 4103216"/>
              <a:gd name="connsiteY7" fmla="*/ 0 h 171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03216" h="1714050">
                <a:moveTo>
                  <a:pt x="2051608" y="0"/>
                </a:moveTo>
                <a:cubicBezTo>
                  <a:pt x="3184680" y="0"/>
                  <a:pt x="4103216" y="567138"/>
                  <a:pt x="4103216" y="1266738"/>
                </a:cubicBezTo>
                <a:cubicBezTo>
                  <a:pt x="4103216" y="1397913"/>
                  <a:pt x="4070924" y="1524431"/>
                  <a:pt x="4010980" y="1643427"/>
                </a:cubicBezTo>
                <a:lnTo>
                  <a:pt x="3969116" y="1714050"/>
                </a:lnTo>
                <a:lnTo>
                  <a:pt x="134100" y="1714050"/>
                </a:lnTo>
                <a:lnTo>
                  <a:pt x="92237" y="1643427"/>
                </a:lnTo>
                <a:cubicBezTo>
                  <a:pt x="32293" y="1524431"/>
                  <a:pt x="0" y="1397913"/>
                  <a:pt x="0" y="1266738"/>
                </a:cubicBezTo>
                <a:cubicBezTo>
                  <a:pt x="0" y="567138"/>
                  <a:pt x="918536" y="0"/>
                  <a:pt x="2051608" y="0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8EC41B9-2D25-48A6-BC40-DA8F79F3E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8F21547-A433-450A-B2A3-930DCFABD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24"/>
          <a:stretch/>
        </p:blipFill>
        <p:spPr>
          <a:xfrm>
            <a:off x="0" y="0"/>
            <a:ext cx="2622176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347" y="87768"/>
            <a:ext cx="8187274" cy="11375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cap="none" dirty="0"/>
              <a:t>Key Differences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73B520B-D7E7-436A-B263-0682940B4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10" r="21258"/>
          <a:stretch/>
        </p:blipFill>
        <p:spPr>
          <a:xfrm>
            <a:off x="0" y="4238951"/>
            <a:ext cx="7200177" cy="2619049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8E89D13-816F-989A-DF54-FE76F8598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157552"/>
              </p:ext>
            </p:extLst>
          </p:nvPr>
        </p:nvGraphicFramePr>
        <p:xfrm>
          <a:off x="224347" y="1530122"/>
          <a:ext cx="8759970" cy="3946787"/>
        </p:xfrm>
        <a:graphic>
          <a:graphicData uri="http://schemas.openxmlformats.org/drawingml/2006/table">
            <a:tbl>
              <a:tblPr/>
              <a:tblGrid>
                <a:gridCol w="1216526">
                  <a:extLst>
                    <a:ext uri="{9D8B030D-6E8A-4147-A177-3AD203B41FA5}">
                      <a16:colId xmlns:a16="http://schemas.microsoft.com/office/drawing/2014/main" val="1828168555"/>
                    </a:ext>
                  </a:extLst>
                </a:gridCol>
                <a:gridCol w="3623517">
                  <a:extLst>
                    <a:ext uri="{9D8B030D-6E8A-4147-A177-3AD203B41FA5}">
                      <a16:colId xmlns:a16="http://schemas.microsoft.com/office/drawing/2014/main" val="1142005511"/>
                    </a:ext>
                  </a:extLst>
                </a:gridCol>
                <a:gridCol w="3919927">
                  <a:extLst>
                    <a:ext uri="{9D8B030D-6E8A-4147-A177-3AD203B41FA5}">
                      <a16:colId xmlns:a16="http://schemas.microsoft.com/office/drawing/2014/main" val="3522723510"/>
                    </a:ext>
                  </a:extLst>
                </a:gridCol>
              </a:tblGrid>
              <a:tr h="376482">
                <a:tc>
                  <a:txBody>
                    <a:bodyPr/>
                    <a:lstStyle/>
                    <a:p>
                      <a:pPr algn="just" fontAlgn="b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Aspect</a:t>
                      </a:r>
                    </a:p>
                  </a:txBody>
                  <a:tcPr marL="3840" marR="3840" marT="384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 Analysis</a:t>
                      </a:r>
                    </a:p>
                  </a:txBody>
                  <a:tcPr marL="3840" marR="3840" marT="3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 Analytics</a:t>
                      </a:r>
                    </a:p>
                  </a:txBody>
                  <a:tcPr marL="3840" marR="3840" marT="3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089288"/>
                  </a:ext>
                </a:extLst>
              </a:tr>
              <a:tr h="749607">
                <a:tc>
                  <a:txBody>
                    <a:bodyPr/>
                    <a:lstStyle/>
                    <a:p>
                      <a:pPr algn="just" fontAlgn="b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Position</a:t>
                      </a:r>
                    </a:p>
                  </a:txBody>
                  <a:tcPr marL="3840" marR="3840" marT="384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Subset of data analytics.</a:t>
                      </a:r>
                    </a:p>
                  </a:txBody>
                  <a:tcPr marL="3840" marR="3840" marT="3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Broader discipline that includes data analysis.</a:t>
                      </a:r>
                    </a:p>
                  </a:txBody>
                  <a:tcPr marL="3840" marR="3840" marT="3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473068"/>
                  </a:ext>
                </a:extLst>
              </a:tr>
              <a:tr h="1122732">
                <a:tc>
                  <a:txBody>
                    <a:bodyPr/>
                    <a:lstStyle/>
                    <a:p>
                      <a:pPr algn="just" fontAlgn="b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Focus</a:t>
                      </a:r>
                    </a:p>
                  </a:txBody>
                  <a:tcPr marL="3840" marR="3840" marT="384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Descriptive and diagnostic analysis of historical data.</a:t>
                      </a:r>
                    </a:p>
                  </a:txBody>
                  <a:tcPr marL="3840" marR="3840" marT="3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Includes descriptive, diagnostic, predictive, and prescriptive analytics.</a:t>
                      </a:r>
                    </a:p>
                  </a:txBody>
                  <a:tcPr marL="3840" marR="3840" marT="3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660750"/>
                  </a:ext>
                </a:extLst>
              </a:tr>
              <a:tr h="1374947">
                <a:tc>
                  <a:txBody>
                    <a:bodyPr/>
                    <a:lstStyle/>
                    <a:p>
                      <a:pPr algn="just" fontAlgn="b"/>
                      <a:r>
                        <a:rPr lang="en-I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Purpose</a:t>
                      </a:r>
                    </a:p>
                  </a:txBody>
                  <a:tcPr marL="3840" marR="3840" marT="384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Understanding and</a:t>
                      </a:r>
                      <a:b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summarizing data.</a:t>
                      </a:r>
                    </a:p>
                  </a:txBody>
                  <a:tcPr marL="3840" marR="3840" marT="3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Solving specific business problems and making data-driven decisions.</a:t>
                      </a:r>
                    </a:p>
                  </a:txBody>
                  <a:tcPr marL="3840" marR="3840" marT="384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8338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4951" y="0"/>
            <a:ext cx="609904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951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3044951" cy="15144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255" y="1419900"/>
            <a:ext cx="2878696" cy="4018201"/>
          </a:xfrm>
        </p:spPr>
        <p:txBody>
          <a:bodyPr>
            <a:normAutofit/>
          </a:bodyPr>
          <a:lstStyle/>
          <a:p>
            <a:pPr algn="l"/>
            <a:r>
              <a:rPr lang="en-IN" cap="none" dirty="0"/>
              <a:t>Techniques and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888" y="443344"/>
            <a:ext cx="5534857" cy="5624947"/>
          </a:xfrm>
        </p:spPr>
        <p:txBody>
          <a:bodyPr anchor="ctr">
            <a:noAutofit/>
          </a:bodyPr>
          <a:lstStyle/>
          <a:p>
            <a:endParaRPr lang="en-US" sz="2800" dirty="0"/>
          </a:p>
          <a:p>
            <a:r>
              <a:rPr lang="en-IN" sz="2800" b="1" cap="none" dirty="0"/>
              <a:t>Data Analysis: </a:t>
            </a:r>
          </a:p>
          <a:p>
            <a:pPr lvl="1"/>
            <a:r>
              <a:rPr lang="en-IN" sz="2800" cap="none" dirty="0"/>
              <a:t>Descriptive statistics, EDA, visualizations (excel, tableau, python - matplotlib, seaborn).</a:t>
            </a:r>
            <a:endParaRPr lang="en-IN" sz="2800" dirty="0"/>
          </a:p>
          <a:p>
            <a:r>
              <a:rPr lang="en-IN" sz="2800" b="1" cap="none" dirty="0"/>
              <a:t>Data Analytics</a:t>
            </a:r>
            <a:r>
              <a:rPr sz="2800" b="1" dirty="0"/>
              <a:t>:</a:t>
            </a:r>
            <a:r>
              <a:rPr lang="en-US" sz="2800" b="1" dirty="0"/>
              <a:t> </a:t>
            </a:r>
          </a:p>
          <a:p>
            <a:pPr lvl="1"/>
            <a:r>
              <a:rPr lang="en-IN" sz="2800" cap="none" dirty="0"/>
              <a:t>Machine learning,</a:t>
            </a:r>
          </a:p>
          <a:p>
            <a:pPr lvl="1"/>
            <a:r>
              <a:rPr lang="en-IN" sz="2800" cap="none" dirty="0"/>
              <a:t> Advanced BI tools (R, python, Apache spark, KNIME, tableau).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032794" y="5962903"/>
            <a:ext cx="1943100" cy="8929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0"/>
            <a:ext cx="7773338" cy="1596177"/>
          </a:xfrm>
        </p:spPr>
        <p:txBody>
          <a:bodyPr/>
          <a:lstStyle/>
          <a:p>
            <a:r>
              <a:rPr lang="en-IN" cap="none" dirty="0"/>
              <a:t>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08364"/>
            <a:ext cx="9144000" cy="4003963"/>
          </a:xfrm>
        </p:spPr>
        <p:txBody>
          <a:bodyPr>
            <a:noAutofit/>
          </a:bodyPr>
          <a:lstStyle/>
          <a:p>
            <a:pPr algn="just"/>
            <a:r>
              <a:rPr lang="en-IN" sz="2800" b="1" cap="none" dirty="0"/>
              <a:t>Data analysis </a:t>
            </a:r>
            <a:r>
              <a:rPr lang="en-IN" sz="2800" cap="none" dirty="0"/>
              <a:t>is a foundational step within data analytics.</a:t>
            </a:r>
          </a:p>
          <a:p>
            <a:pPr lvl="1" algn="just"/>
            <a:r>
              <a:rPr lang="en-IN" sz="2800" cap="none" dirty="0"/>
              <a:t>It focuses on understanding historical data ("what happened?").</a:t>
            </a:r>
          </a:p>
          <a:p>
            <a:pPr algn="just"/>
            <a:r>
              <a:rPr lang="en-IN" sz="2800" b="1" cap="none" dirty="0"/>
              <a:t>Data analytics </a:t>
            </a:r>
            <a:r>
              <a:rPr lang="en-IN" sz="2800" cap="none" dirty="0"/>
              <a:t>is broader and includes predictive and prescriptive insights ("what will happen?" And "what should we do?").</a:t>
            </a:r>
          </a:p>
          <a:p>
            <a:pPr lvl="1" algn="just"/>
            <a:r>
              <a:rPr lang="en-IN" sz="2800" cap="none" dirty="0"/>
              <a:t>It builds on insights from data analysis to make predictions and recommendations.</a:t>
            </a:r>
          </a:p>
          <a:p>
            <a:pPr algn="just"/>
            <a:r>
              <a:rPr lang="en-IN" sz="2800" b="1" cap="none" dirty="0"/>
              <a:t>Together, they form the basis for data-driven decision-making</a:t>
            </a:r>
            <a:r>
              <a:rPr lang="en-IN" sz="2800" cap="none" dirty="0"/>
              <a:t>.</a:t>
            </a:r>
          </a:p>
          <a:p>
            <a:pPr algn="just"/>
            <a:endParaRPr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3" y="268710"/>
            <a:ext cx="7773338" cy="1596177"/>
          </a:xfrm>
        </p:spPr>
        <p:txBody>
          <a:bodyPr/>
          <a:lstStyle/>
          <a:p>
            <a:r>
              <a:rPr lang="en-IN" cap="none" dirty="0"/>
              <a:t>Importance of Data Analysis and Visualization in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655" y="1864887"/>
            <a:ext cx="8264706" cy="3424107"/>
          </a:xfrm>
        </p:spPr>
        <p:txBody>
          <a:bodyPr>
            <a:noAutofit/>
          </a:bodyPr>
          <a:lstStyle/>
          <a:p>
            <a:pPr algn="just"/>
            <a:r>
              <a:rPr lang="en-IN" sz="2800" cap="none" dirty="0"/>
              <a:t>Data analysis helps identify patterns, trends, and insights in research data.</a:t>
            </a:r>
          </a:p>
          <a:p>
            <a:pPr algn="just"/>
            <a:r>
              <a:rPr lang="en-IN" sz="2800" cap="none" dirty="0"/>
              <a:t>Supports evidence-based conclusions, enhancing the credibility of research.</a:t>
            </a:r>
          </a:p>
          <a:p>
            <a:pPr marR="0" lvl="0" algn="just" fontAlgn="auto">
              <a:spcAft>
                <a:spcPts val="0"/>
              </a:spcAft>
              <a:buSzTx/>
              <a:tabLst/>
              <a:defRPr/>
            </a:pPr>
            <a:r>
              <a:rPr lang="en-IN" sz="2800" cap="none" dirty="0"/>
              <a:t>Enhances the clarity and understanding of research findings.</a:t>
            </a:r>
          </a:p>
          <a:p>
            <a:pPr marR="0" lvl="0" algn="just" fontAlgn="auto">
              <a:spcAft>
                <a:spcPts val="0"/>
              </a:spcAft>
              <a:buSzTx/>
              <a:tabLst/>
              <a:defRPr/>
            </a:pPr>
            <a:r>
              <a:rPr lang="en-IN" sz="2800" cap="none" dirty="0"/>
              <a:t>Facilitates impactful communication of results through visual storytelling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cap="none" dirty="0"/>
              <a:t>Objectives of Data Analysis and Visualization In Publishing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218" y="2367094"/>
            <a:ext cx="8534399" cy="342410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N" sz="3200" cap="none" dirty="0"/>
              <a:t>Organize and summarize research data.</a:t>
            </a:r>
          </a:p>
          <a:p>
            <a:pPr algn="just"/>
            <a:r>
              <a:rPr lang="en-IN" sz="3200" cap="none" dirty="0"/>
              <a:t>Highlight trends, outliers, and relationships.</a:t>
            </a:r>
          </a:p>
          <a:p>
            <a:pPr algn="just"/>
            <a:r>
              <a:rPr lang="en-IN" sz="3200" cap="none" dirty="0"/>
              <a:t>Generate insights that address key research questions.</a:t>
            </a:r>
          </a:p>
          <a:p>
            <a:pPr algn="just"/>
            <a:r>
              <a:rPr lang="en-IN" sz="3200" cap="none" dirty="0"/>
              <a:t>Create visually compelling narratives to improve research dissemination.</a:t>
            </a:r>
          </a:p>
          <a:p>
            <a:endParaRPr lang="en-IN" sz="2800" cap="none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cap="none" dirty="0"/>
              <a:t>Techniques for Effective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383" y="2367094"/>
            <a:ext cx="8659090" cy="3424107"/>
          </a:xfrm>
        </p:spPr>
        <p:txBody>
          <a:bodyPr>
            <a:normAutofit/>
          </a:bodyPr>
          <a:lstStyle/>
          <a:p>
            <a:r>
              <a:rPr lang="en-IN" sz="2800" cap="none" dirty="0"/>
              <a:t>Data Cleaning and Preprocessing: Ensure data accuracy and consistency.</a:t>
            </a:r>
          </a:p>
          <a:p>
            <a:r>
              <a:rPr lang="en-IN" sz="2800" cap="none" dirty="0"/>
              <a:t>Statistical Analysis: Use descriptive and inferential statistics to summarize data.</a:t>
            </a:r>
          </a:p>
          <a:p>
            <a:r>
              <a:rPr lang="en-IN" sz="2800" cap="none" dirty="0"/>
              <a:t>Exploratory Data Analysis (EDA): Identify key patterns and relationships.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sz="3600" dirty="0">
                <a:latin typeface="Tw Cen MT" panose="020B0602020104020603" pitchFamily="34" charset="77"/>
              </a:rPr>
              <a:t>Visualization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506691" cy="4525963"/>
          </a:xfrm>
        </p:spPr>
        <p:txBody>
          <a:bodyPr>
            <a:normAutofit/>
          </a:bodyPr>
          <a:lstStyle/>
          <a:p>
            <a:pPr algn="just"/>
            <a:r>
              <a:rPr sz="2800" dirty="0">
                <a:latin typeface="Tw Cen MT" panose="020B0602020104020603" pitchFamily="34" charset="77"/>
              </a:rPr>
              <a:t>Static Visualizations: Bar charts, line plots, scatter plots.</a:t>
            </a:r>
            <a:endParaRPr lang="en-US" sz="2800" dirty="0">
              <a:latin typeface="Tw Cen MT" panose="020B0602020104020603" pitchFamily="34" charset="77"/>
            </a:endParaRPr>
          </a:p>
          <a:p>
            <a:pPr algn="just"/>
            <a:endParaRPr sz="2800" dirty="0">
              <a:latin typeface="Tw Cen MT" panose="020B0602020104020603" pitchFamily="34" charset="77"/>
            </a:endParaRPr>
          </a:p>
          <a:p>
            <a:pPr algn="just"/>
            <a:r>
              <a:rPr sz="2800" dirty="0">
                <a:latin typeface="Tw Cen MT" panose="020B0602020104020603" pitchFamily="34" charset="77"/>
              </a:rPr>
              <a:t>Interactive Visualizations: Dashboards, heatmaps, and 3D plots.</a:t>
            </a:r>
            <a:endParaRPr lang="en-US" sz="2800" dirty="0">
              <a:latin typeface="Tw Cen MT" panose="020B0602020104020603" pitchFamily="34" charset="77"/>
            </a:endParaRPr>
          </a:p>
          <a:p>
            <a:pPr marL="0" indent="0" algn="just">
              <a:buNone/>
            </a:pPr>
            <a:endParaRPr sz="2800" dirty="0">
              <a:latin typeface="Tw Cen MT" panose="020B0602020104020603" pitchFamily="34" charset="77"/>
            </a:endParaRPr>
          </a:p>
          <a:p>
            <a:pPr algn="just"/>
            <a:r>
              <a:rPr sz="2800" dirty="0">
                <a:latin typeface="Tw Cen MT" panose="020B0602020104020603" pitchFamily="34" charset="77"/>
              </a:rPr>
              <a:t>Dynamic Visualizations: Real-time data streaming and interactive web-based tools.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cap="none" dirty="0"/>
              <a:t>Tools for Research Data Analysis and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2367094"/>
            <a:ext cx="8112305" cy="3424107"/>
          </a:xfrm>
        </p:spPr>
        <p:txBody>
          <a:bodyPr>
            <a:noAutofit/>
          </a:bodyPr>
          <a:lstStyle/>
          <a:p>
            <a:r>
              <a:rPr lang="en-IN" sz="2800" cap="none" dirty="0"/>
              <a:t>Python Libraries: Pandas, Matplotlib, Seaborn, </a:t>
            </a:r>
            <a:r>
              <a:rPr lang="en-IN" sz="2800" cap="none" dirty="0" err="1"/>
              <a:t>Plotly</a:t>
            </a:r>
            <a:r>
              <a:rPr lang="en-IN" sz="2800" cap="none" dirty="0"/>
              <a:t> and Bokeh for Data Processing And Visualization.</a:t>
            </a:r>
          </a:p>
          <a:p>
            <a:r>
              <a:rPr lang="en-IN" sz="2800" cap="none" dirty="0"/>
              <a:t>KNIME: Automate Workflows for Large-scale Data Analysis.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E2363-75A7-5EF4-65CA-09ED12A7B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Python Libraries for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3F219-08B2-5409-64BD-B749EE1F0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 dirty="0" err="1"/>
              <a:t>Numpy</a:t>
            </a:r>
            <a:endParaRPr lang="en-US" cap="none" dirty="0"/>
          </a:p>
          <a:p>
            <a:r>
              <a:rPr lang="en-US" cap="none" dirty="0"/>
              <a:t>Pandas</a:t>
            </a:r>
          </a:p>
          <a:p>
            <a:r>
              <a:rPr lang="en-US" cap="none" dirty="0"/>
              <a:t>Scikit-learn</a:t>
            </a:r>
          </a:p>
        </p:txBody>
      </p:sp>
    </p:spTree>
    <p:extLst>
      <p:ext uri="{BB962C8B-B14F-4D97-AF65-F5344CB8AC3E}">
        <p14:creationId xmlns:p14="http://schemas.microsoft.com/office/powerpoint/2010/main" val="329289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94EC8-84D3-C934-20A1-0D3C34AEB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 err="1"/>
              <a:t>Numpy</a:t>
            </a:r>
            <a:endParaRPr lang="en-US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2FE9A-3127-0595-DA67-23340B290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cap="none" dirty="0"/>
              <a:t>For Numerical Computing</a:t>
            </a:r>
          </a:p>
          <a:p>
            <a:pPr lvl="1"/>
            <a:r>
              <a:rPr lang="en-US" sz="3200" cap="none" dirty="0"/>
              <a:t>Working with arrays</a:t>
            </a:r>
          </a:p>
          <a:p>
            <a:pPr lvl="1"/>
            <a:r>
              <a:rPr lang="en-US" sz="3200" cap="none" dirty="0"/>
              <a:t>Basic operations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CC9691-29BC-947E-50B9-CD7D2436F5E2}"/>
              </a:ext>
            </a:extLst>
          </p:cNvPr>
          <p:cNvSpPr txBox="1"/>
          <p:nvPr/>
        </p:nvSpPr>
        <p:spPr>
          <a:xfrm>
            <a:off x="465364" y="5001652"/>
            <a:ext cx="86786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linkClick r:id="rId2"/>
              </a:rPr>
              <a:t>https://numpy.org/doc/stable/user/absolute_beginners.html</a:t>
            </a:r>
            <a:endParaRPr lang="en-US" sz="2000" dirty="0"/>
          </a:p>
          <a:p>
            <a:r>
              <a:rPr lang="en-US" sz="2000" dirty="0"/>
              <a:t>https://</a:t>
            </a:r>
            <a:r>
              <a:rPr lang="en-US" sz="2000" dirty="0" err="1"/>
              <a:t>media.geeksforgeeks.org</a:t>
            </a:r>
            <a:r>
              <a:rPr lang="en-US" sz="2000" dirty="0"/>
              <a:t>/wp-content/uploads/20240104182515/NumPy-Cheat-</a:t>
            </a:r>
            <a:r>
              <a:rPr lang="en-US" sz="2000" dirty="0" err="1"/>
              <a:t>Sheet.pdf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67881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A11BB-6C74-E01F-EEC1-181E1550B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5C1B2F-1309-5128-5DB7-0214073D4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7486"/>
            <a:ext cx="9144000" cy="516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38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4CED-F47C-1F57-9A8F-29D5C5495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4B1CA-3E2C-56B9-C5E3-B8F5BB164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cap="none" dirty="0"/>
              <a:t>For data manipulation, exploration and 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565374-D1A4-7A12-4650-91ADA2008C9A}"/>
              </a:ext>
            </a:extLst>
          </p:cNvPr>
          <p:cNvSpPr txBox="1"/>
          <p:nvPr/>
        </p:nvSpPr>
        <p:spPr>
          <a:xfrm>
            <a:off x="681227" y="5312272"/>
            <a:ext cx="67390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linkClick r:id="" action="ppaction://noaction"/>
              </a:rPr>
              <a:t>https://pandas.pydata.org/docs/getting_started/index.html</a:t>
            </a:r>
          </a:p>
          <a:p>
            <a:r>
              <a:rPr lang="en-US" sz="2000" dirty="0">
                <a:hlinkClick r:id="" action="ppaction://noaction"/>
              </a:rPr>
              <a:t>https://www.geeksforgeeks.org/pandas-cheat-sheet/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0614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83214-2351-0C32-9B8D-FBC568A02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279FD-B1E2-D2CE-31D0-2590B1EA0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45E87C-98A4-CBCA-237C-CDBEE1EC7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409" y="427"/>
            <a:ext cx="9657179" cy="685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300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4CDD4-B1FF-FCC6-216E-9BB6E5DDF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Scikit-learn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C75AF-4BED-CC05-D274-6688557B2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 dirty="0"/>
              <a:t>For Machine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CE50BD-742C-F42C-C91B-4526C92062C6}"/>
              </a:ext>
            </a:extLst>
          </p:cNvPr>
          <p:cNvSpPr txBox="1"/>
          <p:nvPr/>
        </p:nvSpPr>
        <p:spPr>
          <a:xfrm>
            <a:off x="681228" y="5347900"/>
            <a:ext cx="4572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/>
              <a:t>https://scikit-</a:t>
            </a:r>
            <a:r>
              <a:rPr lang="en-US" sz="1350" dirty="0" err="1"/>
              <a:t>learn.org</a:t>
            </a:r>
            <a:r>
              <a:rPr lang="en-US" sz="1350" dirty="0"/>
              <a:t>/stable/</a:t>
            </a:r>
          </a:p>
        </p:txBody>
      </p:sp>
    </p:spTree>
    <p:extLst>
      <p:ext uri="{BB962C8B-B14F-4D97-AF65-F5344CB8AC3E}">
        <p14:creationId xmlns:p14="http://schemas.microsoft.com/office/powerpoint/2010/main" val="3114619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EFDB-336D-49B5-83E6-828D5A308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23CB684-21AC-2F0C-05E4-8BEBECB88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262"/>
            <a:ext cx="9144000" cy="511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099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7912C-4F52-B32F-6013-37E9BA65C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D9747-09BF-B314-50DC-86BCF9B28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68580" tIns="34290" rIns="68580" bIns="34290" rtlCol="0">
            <a:noAutofit/>
          </a:bodyPr>
          <a:lstStyle/>
          <a:p>
            <a:pPr marL="0" indent="0">
              <a:buNone/>
            </a:pPr>
            <a:endParaRPr lang="en-IN" sz="3200" cap="none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IN" sz="3200" cap="none" dirty="0">
                <a:solidFill>
                  <a:srgbClr val="000000"/>
                </a:solidFill>
              </a:rPr>
              <a:t>The greatest value of a picture is when it forces us to notice what we never expected to see.</a:t>
            </a:r>
          </a:p>
          <a:p>
            <a:pPr marL="0" indent="0" algn="r">
              <a:buNone/>
            </a:pPr>
            <a:r>
              <a:rPr lang="en-US" sz="3200" cap="none" dirty="0">
                <a:solidFill>
                  <a:srgbClr val="000000"/>
                </a:solidFill>
              </a:rPr>
              <a:t>				- </a:t>
            </a:r>
            <a:r>
              <a:rPr lang="en-IN" sz="3200" cap="none" dirty="0">
                <a:solidFill>
                  <a:srgbClr val="000000"/>
                </a:solidFill>
              </a:rPr>
              <a:t>John Tukey</a:t>
            </a:r>
          </a:p>
          <a:p>
            <a:pPr marL="0" indent="0">
              <a:buNone/>
            </a:pPr>
            <a:endParaRPr lang="en-US" sz="3200" cap="non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966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cap="none" dirty="0"/>
              <a:t>KNIME for Automated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cap="none" dirty="0"/>
              <a:t>Setting up workflows in KNIME.</a:t>
            </a:r>
          </a:p>
          <a:p>
            <a:r>
              <a:rPr lang="en-IN" cap="none" dirty="0"/>
              <a:t>Using visualization nodes (histograms, scatter plots, line charts).</a:t>
            </a:r>
          </a:p>
          <a:p>
            <a:r>
              <a:rPr lang="en-IN" cap="none" dirty="0"/>
              <a:t>Automating data preprocessing and exporting insights.</a:t>
            </a:r>
          </a:p>
        </p:txBody>
      </p:sp>
    </p:spTree>
    <p:extLst>
      <p:ext uri="{BB962C8B-B14F-4D97-AF65-F5344CB8AC3E}">
        <p14:creationId xmlns:p14="http://schemas.microsoft.com/office/powerpoint/2010/main" val="1010266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cap="none" dirty="0"/>
              <a:t>Enhancing Research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927" y="2367094"/>
            <a:ext cx="8756073" cy="3424107"/>
          </a:xfrm>
        </p:spPr>
        <p:txBody>
          <a:bodyPr>
            <a:normAutofit/>
          </a:bodyPr>
          <a:lstStyle/>
          <a:p>
            <a:r>
              <a:rPr lang="en-IN" sz="2800" cap="none" dirty="0"/>
              <a:t>Leverage high-quality data visualizations to communicate findings effectively.</a:t>
            </a:r>
          </a:p>
          <a:p>
            <a:r>
              <a:rPr lang="en-IN" sz="2800" cap="none" dirty="0"/>
              <a:t>Use analytical insights to address societal challenges or industry needs.</a:t>
            </a:r>
          </a:p>
          <a:p>
            <a:r>
              <a:rPr lang="en-IN" sz="2800" cap="none" dirty="0"/>
              <a:t>Collaborate across disciplines to make research impactful.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cap="none" dirty="0"/>
              <a:t>Summary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cap="none" dirty="0"/>
              <a:t>Data Analysis is a cornerstone of impactful research and publishing.</a:t>
            </a:r>
          </a:p>
          <a:p>
            <a:r>
              <a:rPr lang="en-IN" sz="2800" cap="none" dirty="0"/>
              <a:t> Utilize modern tools and techniques to maximize research visibility.</a:t>
            </a:r>
          </a:p>
          <a:p>
            <a:r>
              <a:rPr lang="en-IN" sz="2800" cap="none" dirty="0"/>
              <a:t>Focus on clear, evidence-based storytelling to engage readers and reviewers.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175</TotalTime>
  <Words>730</Words>
  <Application>Microsoft Macintosh PowerPoint</Application>
  <PresentationFormat>On-screen Show (4:3)</PresentationFormat>
  <Paragraphs>100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Tw Cen MT</vt:lpstr>
      <vt:lpstr>Droplet</vt:lpstr>
      <vt:lpstr>Office Theme</vt:lpstr>
      <vt:lpstr>Day 3: Data Analysis and Visualization Techniques</vt:lpstr>
      <vt:lpstr>Session Overview</vt:lpstr>
      <vt:lpstr>Data Analysis vs Data Analytics</vt:lpstr>
      <vt:lpstr>Overview</vt:lpstr>
      <vt:lpstr>Definitions</vt:lpstr>
      <vt:lpstr>Key Differences</vt:lpstr>
      <vt:lpstr>Techniques and Tools</vt:lpstr>
      <vt:lpstr>Relationship</vt:lpstr>
      <vt:lpstr>Importance of Data Analysis and Visualization in Research</vt:lpstr>
      <vt:lpstr>Objectives of Data Analysis and Visualization In Publishing</vt:lpstr>
      <vt:lpstr>Techniques for Effective Data Analysis</vt:lpstr>
      <vt:lpstr>Visualization Techniques</vt:lpstr>
      <vt:lpstr>Tools for Research Data Analysis and Visualization</vt:lpstr>
      <vt:lpstr>Python Libraries for Data Analysis</vt:lpstr>
      <vt:lpstr>Numpy</vt:lpstr>
      <vt:lpstr>PowerPoint Presentation</vt:lpstr>
      <vt:lpstr>Pandas</vt:lpstr>
      <vt:lpstr>PowerPoint Presentation</vt:lpstr>
      <vt:lpstr>Scikit-learn</vt:lpstr>
      <vt:lpstr>PowerPoint Presentation</vt:lpstr>
      <vt:lpstr>Data Visualization</vt:lpstr>
      <vt:lpstr>KNIME for Automated Visualization</vt:lpstr>
      <vt:lpstr>Enhancing Research Impact</vt:lpstr>
      <vt:lpstr>Summary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Vani V</cp:lastModifiedBy>
  <cp:revision>3</cp:revision>
  <dcterms:created xsi:type="dcterms:W3CDTF">2013-01-27T09:14:16Z</dcterms:created>
  <dcterms:modified xsi:type="dcterms:W3CDTF">2025-02-05T04:13:07Z</dcterms:modified>
  <cp:category/>
</cp:coreProperties>
</file>